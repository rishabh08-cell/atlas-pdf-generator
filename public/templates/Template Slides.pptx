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A6959E-4030-4773-B7F1-78B7FB528B93}">
  <a:tblStyle styleId="{48A6959E-4030-4773-B7F1-78B7FB528B9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5.xml"/><Relationship Id="rId22" Type="http://schemas.openxmlformats.org/officeDocument/2006/relationships/font" Target="fonts/Inter-boldItalic.fntdata"/><Relationship Id="rId10" Type="http://schemas.openxmlformats.org/officeDocument/2006/relationships/slide" Target="slides/slide4.xml"/><Relationship Id="rId21" Type="http://schemas.openxmlformats.org/officeDocument/2006/relationships/font" Target="fonts/Int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0d584b251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0d584b251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0d584b251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90d584b251_2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0d584b251_2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0d584b251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0d584b251_2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0d584b251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0d584b251_2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0d584b251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0d584b251_2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0d584b251_2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0d584b251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0d584b251_2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0d584b251_2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0d584b251_2_2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7794300" y="1328088"/>
            <a:ext cx="905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100" u="sng">
                <a:latin typeface="Roboto"/>
                <a:ea typeface="Roboto"/>
                <a:cs typeface="Roboto"/>
                <a:sym typeface="Roboto"/>
              </a:rPr>
              <a:t>Goals</a:t>
            </a:r>
            <a:endParaRPr b="1" i="0" sz="11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533475" y="795100"/>
            <a:ext cx="5499300" cy="0"/>
          </a:xfrm>
          <a:prstGeom prst="straightConnector1">
            <a:avLst/>
          </a:prstGeom>
          <a:noFill/>
          <a:ln cap="flat" cmpd="sng" w="19050">
            <a:solidFill>
              <a:srgbClr val="4AA7C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13"/>
          <p:cNvSpPr txBox="1"/>
          <p:nvPr/>
        </p:nvSpPr>
        <p:spPr>
          <a:xfrm>
            <a:off x="0" y="4905000"/>
            <a:ext cx="1731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Source: Otterly.ai</a:t>
            </a:r>
            <a:endParaRPr b="1"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67374" y="1101800"/>
            <a:ext cx="2933100" cy="1312200"/>
          </a:xfrm>
          <a:prstGeom prst="rect">
            <a:avLst/>
          </a:prstGeom>
          <a:solidFill>
            <a:srgbClr val="FFD766"/>
          </a:solidFill>
          <a:ln cap="flat" cmpd="sng" w="9525">
            <a:solidFill>
              <a:srgbClr val="FFD7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95250">
              <a:srgbClr val="000000">
                <a:alpha val="5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78750" y="271900"/>
            <a:ext cx="719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What does each of these mean?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083574" y="1101800"/>
            <a:ext cx="2933100" cy="1312200"/>
          </a:xfrm>
          <a:prstGeom prst="rect">
            <a:avLst/>
          </a:prstGeom>
          <a:solidFill>
            <a:srgbClr val="FFD766"/>
          </a:solidFill>
          <a:ln cap="flat" cmpd="sng" w="9525">
            <a:solidFill>
              <a:srgbClr val="FFD7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95250">
              <a:srgbClr val="000000">
                <a:alpha val="5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099774" y="1101800"/>
            <a:ext cx="2933100" cy="1312200"/>
          </a:xfrm>
          <a:prstGeom prst="rect">
            <a:avLst/>
          </a:prstGeom>
          <a:solidFill>
            <a:srgbClr val="FFD766"/>
          </a:solidFill>
          <a:ln cap="flat" cmpd="sng" w="9525">
            <a:solidFill>
              <a:srgbClr val="FFD7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95250">
              <a:srgbClr val="000000">
                <a:alpha val="5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67374" y="2625800"/>
            <a:ext cx="2933100" cy="1312200"/>
          </a:xfrm>
          <a:prstGeom prst="rect">
            <a:avLst/>
          </a:prstGeom>
          <a:solidFill>
            <a:srgbClr val="FFD766"/>
          </a:solidFill>
          <a:ln cap="flat" cmpd="sng" w="9525">
            <a:solidFill>
              <a:srgbClr val="FFD7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95250">
              <a:srgbClr val="000000">
                <a:alpha val="5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083574" y="2625800"/>
            <a:ext cx="2933100" cy="1312200"/>
          </a:xfrm>
          <a:prstGeom prst="rect">
            <a:avLst/>
          </a:prstGeom>
          <a:solidFill>
            <a:srgbClr val="FFD766"/>
          </a:solidFill>
          <a:ln cap="flat" cmpd="sng" w="9525">
            <a:solidFill>
              <a:srgbClr val="FFD7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95250">
              <a:srgbClr val="000000">
                <a:alpha val="5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6099774" y="2625800"/>
            <a:ext cx="2933100" cy="1312200"/>
          </a:xfrm>
          <a:prstGeom prst="rect">
            <a:avLst/>
          </a:prstGeom>
          <a:solidFill>
            <a:srgbClr val="FFD766"/>
          </a:solidFill>
          <a:ln cap="flat" cmpd="sng" w="9525">
            <a:solidFill>
              <a:srgbClr val="FFD7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700000" dist="95250">
              <a:srgbClr val="000000">
                <a:alpha val="5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45075" y="1202725"/>
            <a:ext cx="27693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Brand Mentions</a:t>
            </a:r>
            <a:b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-------------------------</a:t>
            </a:r>
            <a:endParaRPr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5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Number of times your brand appeared in AI answers out of total tracked prompts</a:t>
            </a:r>
            <a:endParaRPr b="1" i="1"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45075" y="2726725"/>
            <a:ext cx="27693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Domain Citation</a:t>
            </a:r>
            <a:b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-------------------------</a:t>
            </a:r>
            <a:endParaRPr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5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Number of times your website was cited on AI Search Engines</a:t>
            </a:r>
            <a:endParaRPr b="1" i="1"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165477" y="1202725"/>
            <a:ext cx="27693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Share of Voice</a:t>
            </a:r>
            <a:b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-------------------------</a:t>
            </a:r>
            <a:endParaRPr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5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Percentage of your band mentions compared to all total brand mentions</a:t>
            </a:r>
            <a:endParaRPr b="1" i="1"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165477" y="2726725"/>
            <a:ext cx="27693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Brand Coverage</a:t>
            </a:r>
            <a:b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-------------------------</a:t>
            </a:r>
            <a:endParaRPr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5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Percentage of prompts that mention your brand</a:t>
            </a:r>
            <a:endParaRPr b="1" i="1"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181433" y="1202725"/>
            <a:ext cx="27693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Brand Position</a:t>
            </a:r>
            <a:b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-------------------------</a:t>
            </a:r>
            <a:endParaRPr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5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Average position of your brand in AI answers</a:t>
            </a:r>
            <a:endParaRPr b="1" i="1"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181433" y="2726725"/>
            <a:ext cx="2769300" cy="11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Domain Coverage</a:t>
            </a:r>
            <a:br>
              <a:rPr b="1"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-------------------------</a:t>
            </a:r>
            <a:endParaRPr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5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Percentage of prompts that cited your website</a:t>
            </a:r>
            <a:endParaRPr b="1" i="1"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/>
        </p:nvSpPr>
        <p:spPr>
          <a:xfrm>
            <a:off x="13994494" y="8253261"/>
            <a:ext cx="238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D3A5A"/>
                </a:solidFill>
                <a:latin typeface="Roboto"/>
                <a:ea typeface="Roboto"/>
                <a:cs typeface="Roboto"/>
                <a:sym typeface="Roboto"/>
              </a:rPr>
              <a:t>MAY 2024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216425" y="289900"/>
            <a:ext cx="774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latin typeface="Inter"/>
                <a:ea typeface="Inter"/>
                <a:cs typeface="Inter"/>
                <a:sym typeface="Inter"/>
              </a:rPr>
              <a:t>The Approach For Solving GEO</a:t>
            </a:r>
            <a:endParaRPr b="1"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3297500" y="1165742"/>
            <a:ext cx="2540100" cy="2540100"/>
          </a:xfrm>
          <a:prstGeom prst="donut">
            <a:avLst>
              <a:gd fmla="val 16067" name="adj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" name="Google Shape;77;p14"/>
          <p:cNvCxnSpPr/>
          <p:nvPr/>
        </p:nvCxnSpPr>
        <p:spPr>
          <a:xfrm>
            <a:off x="3178969" y="1638300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A1C2FA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78" name="Google Shape;78;p14"/>
          <p:cNvSpPr txBox="1"/>
          <p:nvPr/>
        </p:nvSpPr>
        <p:spPr>
          <a:xfrm>
            <a:off x="46176" y="1315125"/>
            <a:ext cx="3129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Visibility</a:t>
            </a:r>
            <a:br>
              <a:rPr lang="en-GB" sz="8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GB" sz="15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Can LLMs see your content?</a:t>
            </a:r>
            <a:endParaRPr sz="8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audit if you’re being cited across AI Search (ChatGPT, Perplexity, SGE)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identify which competitors are winning those spots - and why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check if your URLs are indexable, link-worthy, and retrievable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9" name="Google Shape;79;p14"/>
          <p:cNvCxnSpPr/>
          <p:nvPr/>
        </p:nvCxnSpPr>
        <p:spPr>
          <a:xfrm flipH="1">
            <a:off x="5517319" y="1638300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2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80" name="Google Shape;80;p14"/>
          <p:cNvCxnSpPr>
            <a:stCxn id="81" idx="1"/>
          </p:cNvCxnSpPr>
          <p:nvPr/>
        </p:nvCxnSpPr>
        <p:spPr>
          <a:xfrm rot="10800000">
            <a:off x="5470926" y="3306475"/>
            <a:ext cx="411900" cy="104700"/>
          </a:xfrm>
          <a:prstGeom prst="straightConnector1">
            <a:avLst/>
          </a:prstGeom>
          <a:noFill/>
          <a:ln cap="flat" cmpd="sng" w="19050">
            <a:solidFill>
              <a:srgbClr val="307AF3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82" name="Google Shape;82;p14"/>
          <p:cNvSpPr txBox="1"/>
          <p:nvPr/>
        </p:nvSpPr>
        <p:spPr>
          <a:xfrm>
            <a:off x="3845784" y="2056460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600E5"/>
                </a:solidFill>
                <a:highlight>
                  <a:srgbClr val="FFD766"/>
                </a:highlight>
                <a:latin typeface="Inter"/>
                <a:ea typeface="Inter"/>
                <a:cs typeface="Inter"/>
                <a:sym typeface="Inter"/>
              </a:rPr>
              <a:t>Pepper’s GEO Approach</a:t>
            </a:r>
            <a:endParaRPr>
              <a:solidFill>
                <a:srgbClr val="1600E5"/>
              </a:solidFill>
              <a:highlight>
                <a:srgbClr val="FFD766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4"/>
          <p:cNvSpPr/>
          <p:nvPr/>
        </p:nvSpPr>
        <p:spPr>
          <a:xfrm rot="1800047">
            <a:off x="3219843" y="1086434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0942A1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 flipH="1" rot="-1800047">
            <a:off x="3221956" y="1086434"/>
            <a:ext cx="2690936" cy="2690936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A1C2FA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 rot="-8100000">
            <a:off x="4382715" y="1027393"/>
            <a:ext cx="363170" cy="363170"/>
          </a:xfrm>
          <a:prstGeom prst="rtTriangle">
            <a:avLst/>
          </a:prstGeom>
          <a:solidFill>
            <a:srgbClr val="A1C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 flipH="1" rot="-9000757">
            <a:off x="3220953" y="1084808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307A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 rot="-1027861">
            <a:off x="5485874" y="2849832"/>
            <a:ext cx="312672" cy="312672"/>
          </a:xfrm>
          <a:prstGeom prst="rtTriangle">
            <a:avLst/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 rot="6359841">
            <a:off x="3315801" y="2847762"/>
            <a:ext cx="363580" cy="363580"/>
          </a:xfrm>
          <a:prstGeom prst="rtTriangle">
            <a:avLst/>
          </a:prstGeom>
          <a:solidFill>
            <a:srgbClr val="307A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959026" y="714175"/>
            <a:ext cx="3129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Citability</a:t>
            </a:r>
            <a:br>
              <a:rPr lang="en-GB" sz="8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GB" sz="15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Can LLMs trust your content?</a:t>
            </a:r>
            <a:endParaRPr i="1" sz="15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rewrite content to include expert quotes, references, structured data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improve source credibility through media presence, high-authority citations, and entity recognition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restructure pages to be chunkable and retrievable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5882826" y="3076375"/>
            <a:ext cx="3129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Retrievability: </a:t>
            </a:r>
            <a:br>
              <a:rPr lang="en-GB" sz="8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GB" sz="15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Can LLMs use your content to answer future questions?</a:t>
            </a:r>
            <a:endParaRPr sz="8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chunk and tag your content to feed RAG systems better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add LLM-readable markup and context layering (FAQs, comparisons, summaries)</a:t>
            </a:r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Char char="●"/>
            </a:pPr>
            <a:r>
              <a:rPr lang="en-GB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monitor which prompts lead to brand visibility and close the loop</a:t>
            </a:r>
            <a:endParaRPr b="1" sz="8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ctrTitle"/>
          </p:nvPr>
        </p:nvSpPr>
        <p:spPr>
          <a:xfrm>
            <a:off x="324750" y="25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00E5"/>
              </a:buClr>
              <a:buSzPts val="2100"/>
              <a:buFont typeface="Inter"/>
              <a:buNone/>
            </a:pPr>
            <a:r>
              <a:rPr b="1" lang="en-GB" sz="22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Reverse Engineering </a:t>
            </a:r>
            <a:r>
              <a:rPr b="1" lang="en-GB" sz="2200">
                <a:latin typeface="Inter"/>
                <a:ea typeface="Inter"/>
                <a:cs typeface="Inter"/>
                <a:sym typeface="Inter"/>
              </a:rPr>
              <a:t>How LLMs Index Content</a:t>
            </a:r>
            <a:endParaRPr b="1" sz="2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280350" y="980525"/>
            <a:ext cx="8583300" cy="905100"/>
          </a:xfrm>
          <a:prstGeom prst="roundRect">
            <a:avLst>
              <a:gd fmla="val 4906" name="adj"/>
            </a:avLst>
          </a:prstGeom>
          <a:gradFill>
            <a:gsLst>
              <a:gs pos="0">
                <a:srgbClr val="C9DAF8"/>
              </a:gs>
              <a:gs pos="100000">
                <a:srgbClr val="FFFFFF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841913" y="1017425"/>
            <a:ext cx="483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>
                <a:latin typeface="Inter"/>
                <a:ea typeface="Inter"/>
                <a:cs typeface="Inter"/>
                <a:sym typeface="Inter"/>
              </a:rPr>
              <a:t>(Chunking × Structure × Schema × Source Weight × Trust Signals)</a:t>
            </a:r>
            <a:endParaRPr b="1" i="1"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472088" y="1169825"/>
            <a:ext cx="284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>
                <a:latin typeface="Inter"/>
                <a:ea typeface="Inter"/>
                <a:cs typeface="Inter"/>
                <a:sym typeface="Inter"/>
              </a:rPr>
              <a:t>LLM Retrieval Score </a:t>
            </a:r>
            <a:endParaRPr b="1" i="1"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3315200" y="713600"/>
            <a:ext cx="817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latin typeface="Inter"/>
                <a:ea typeface="Inter"/>
                <a:cs typeface="Inter"/>
                <a:sym typeface="Inter"/>
              </a:rPr>
              <a:t>∝</a:t>
            </a:r>
            <a:endParaRPr sz="7000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195425" y="236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{48A6959E-4030-4773-B7F1-78B7FB528B93}</a:tableStyleId>
              </a:tblPr>
              <a:tblGrid>
                <a:gridCol w="1712900"/>
                <a:gridCol w="3523975"/>
                <a:gridCol w="35239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</a:t>
                      </a:r>
                      <a:endParaRPr b="1" i="1"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What It Means</a:t>
                      </a:r>
                      <a:endParaRPr b="1" i="1"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100">
                          <a:latin typeface="Inter"/>
                          <a:ea typeface="Inter"/>
                          <a:cs typeface="Inter"/>
                          <a:sym typeface="Inter"/>
                        </a:rPr>
                        <a:t>How Pepper Optimizes It</a:t>
                      </a:r>
                      <a:endParaRPr b="1" i="1" sz="11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Chunking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Atomic 2–4 sentence blocks ideal for embedding + summarization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We rewrite long-form into discrete semantic units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Structure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Use of TL;DRs, bullets, lists, Q&amp;A formatting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is formatted with high semantic clarity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Schema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Machine-readable metadata (FAQPage, HowTo, Product)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Implemented across product pages, glossaries, and help docs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Source Weight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LLM preference hierarchy (Wikipedia &gt; PDF &gt; Help Docs &gt; Blogs &gt; Social)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is distributed into high-weight surfaces LLMs trust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Trust Signals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Presence of citations, statistics, interlinking, and cross-source agreement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Inter"/>
                          <a:ea typeface="Inter"/>
                          <a:cs typeface="Inter"/>
                          <a:sym typeface="Inter"/>
                        </a:rPr>
                        <a:t>We embed outbound and inbound credibility into every content artifact</a:t>
                      </a:r>
                      <a:endParaRPr i="1" sz="9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ctrTitle"/>
          </p:nvPr>
        </p:nvSpPr>
        <p:spPr>
          <a:xfrm>
            <a:off x="324750" y="25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00E5"/>
              </a:buClr>
              <a:buSzPts val="2100"/>
              <a:buFont typeface="Inter"/>
              <a:buNone/>
            </a:pPr>
            <a:r>
              <a:rPr b="1" lang="en-GB" sz="22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The Content Strategy </a:t>
            </a:r>
            <a:r>
              <a:rPr b="1" lang="en-GB" sz="2200">
                <a:latin typeface="Inter"/>
                <a:ea typeface="Inter"/>
                <a:cs typeface="Inter"/>
                <a:sym typeface="Inter"/>
              </a:rPr>
              <a:t>: Source Weightages by LLMs</a:t>
            </a:r>
            <a:endParaRPr b="1" sz="22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5" name="Google Shape;105;p16" title="Screenshot 2025-08-12 at 8.41.13 PM.png"/>
          <p:cNvPicPr preferRelativeResize="0"/>
          <p:nvPr/>
        </p:nvPicPr>
        <p:blipFill rotWithShape="1">
          <a:blip r:embed="rId3">
            <a:alphaModFix/>
          </a:blip>
          <a:srcRect b="0" l="0" r="0" t="13696"/>
          <a:stretch/>
        </p:blipFill>
        <p:spPr>
          <a:xfrm>
            <a:off x="395375" y="965200"/>
            <a:ext cx="8297573" cy="37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261725" y="1937050"/>
            <a:ext cx="780000" cy="211500"/>
          </a:xfrm>
          <a:prstGeom prst="roundRect">
            <a:avLst>
              <a:gd fmla="val 5225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324750" y="3005363"/>
            <a:ext cx="1705200" cy="972600"/>
          </a:xfrm>
          <a:prstGeom prst="roundRect">
            <a:avLst>
              <a:gd fmla="val 5225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576300" y="4359450"/>
            <a:ext cx="858300" cy="211500"/>
          </a:xfrm>
          <a:prstGeom prst="roundRect">
            <a:avLst>
              <a:gd fmla="val 5225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764475" y="4064000"/>
            <a:ext cx="1473300" cy="823500"/>
          </a:xfrm>
          <a:prstGeom prst="roundRect">
            <a:avLst>
              <a:gd fmla="val 5225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type="ctrTitle"/>
          </p:nvPr>
        </p:nvSpPr>
        <p:spPr>
          <a:xfrm>
            <a:off x="324750" y="25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00E5"/>
              </a:buClr>
              <a:buSzPts val="2100"/>
              <a:buFont typeface="Inter"/>
              <a:buNone/>
            </a:pPr>
            <a:r>
              <a:rPr b="1" lang="en-GB" sz="22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The Content Strategy </a:t>
            </a:r>
            <a:r>
              <a:rPr b="1" lang="en-GB" sz="2200">
                <a:latin typeface="Inter"/>
                <a:ea typeface="Inter"/>
                <a:cs typeface="Inter"/>
                <a:sym typeface="Inter"/>
              </a:rPr>
              <a:t>: Topical Authority</a:t>
            </a:r>
            <a:endParaRPr b="1" sz="2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80350" y="922175"/>
            <a:ext cx="8583300" cy="658800"/>
          </a:xfrm>
          <a:prstGeom prst="roundRect">
            <a:avLst>
              <a:gd fmla="val 4906" name="adj"/>
            </a:avLst>
          </a:prstGeom>
          <a:gradFill>
            <a:gsLst>
              <a:gs pos="0">
                <a:srgbClr val="C9DAF8"/>
              </a:gs>
              <a:gs pos="100000">
                <a:srgbClr val="FFFFFF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3841926" y="941225"/>
            <a:ext cx="52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>
                <a:latin typeface="Inter"/>
                <a:ea typeface="Inter"/>
                <a:cs typeface="Inter"/>
                <a:sym typeface="Inter"/>
              </a:rPr>
              <a:t>RRF Score = </a:t>
            </a:r>
            <a:r>
              <a:rPr b="1" i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Σ [1 / (60 + SERP position)]</a:t>
            </a:r>
            <a:endParaRPr b="1" i="1"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204851" y="941225"/>
            <a:ext cx="31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>
                <a:latin typeface="Inter"/>
                <a:ea typeface="Inter"/>
                <a:cs typeface="Inter"/>
                <a:sym typeface="Inter"/>
              </a:rPr>
              <a:t>LLM Recommendations </a:t>
            </a:r>
            <a:endParaRPr b="1" i="1"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3238988" y="-676350"/>
            <a:ext cx="8178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latin typeface="Inter"/>
                <a:ea typeface="Inter"/>
                <a:cs typeface="Inter"/>
                <a:sym typeface="Inter"/>
              </a:rPr>
              <a:t> ∝</a:t>
            </a:r>
            <a:endParaRPr sz="70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9" name="Google Shape;119;p17" title="Screenshot 2025-08-12 at 8.45.4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88" y="2147475"/>
            <a:ext cx="2934525" cy="75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title="Screenshot 2025-08-12 at 8.47.3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0221" y="2147475"/>
            <a:ext cx="2482725" cy="22077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>
            <p:ph idx="4294967295" type="title"/>
          </p:nvPr>
        </p:nvSpPr>
        <p:spPr>
          <a:xfrm>
            <a:off x="222585" y="1877500"/>
            <a:ext cx="8583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00E5"/>
              </a:buClr>
              <a:buSzPct val="150000"/>
              <a:buFont typeface="Inter"/>
              <a:buNone/>
            </a:pPr>
            <a:r>
              <a:rPr b="1" lang="en-GB" sz="14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Brand A</a:t>
            </a:r>
            <a:endParaRPr b="1"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7"/>
          <p:cNvSpPr txBox="1"/>
          <p:nvPr>
            <p:ph idx="4294967295" type="title"/>
          </p:nvPr>
        </p:nvSpPr>
        <p:spPr>
          <a:xfrm>
            <a:off x="3576268" y="4299902"/>
            <a:ext cx="8583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00E5"/>
              </a:buClr>
              <a:buSzPct val="150000"/>
              <a:buFont typeface="Inter"/>
              <a:buNone/>
            </a:pPr>
            <a:r>
              <a:rPr b="1" lang="en-GB" sz="14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Brand B</a:t>
            </a:r>
            <a:endParaRPr b="1" sz="14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5">
            <a:alphaModFix/>
          </a:blip>
          <a:srcRect b="38704" l="10873" r="10787" t="38556"/>
          <a:stretch/>
        </p:blipFill>
        <p:spPr>
          <a:xfrm>
            <a:off x="373825" y="3136150"/>
            <a:ext cx="1093152" cy="21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 title="Bank_of_America_logo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3817" y="3436800"/>
            <a:ext cx="1574651" cy="159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title="PNC_Financial_Services-Logo.wine.png"/>
          <p:cNvPicPr preferRelativeResize="0"/>
          <p:nvPr/>
        </p:nvPicPr>
        <p:blipFill rotWithShape="1">
          <a:blip r:embed="rId7">
            <a:alphaModFix/>
          </a:blip>
          <a:srcRect b="33115" l="11362" r="10707" t="32979"/>
          <a:stretch/>
        </p:blipFill>
        <p:spPr>
          <a:xfrm>
            <a:off x="373813" y="3685845"/>
            <a:ext cx="898084" cy="2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233100" y="2945575"/>
            <a:ext cx="338100" cy="10938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7"/>
          <p:cNvCxnSpPr>
            <a:stCxn id="121" idx="1"/>
            <a:endCxn id="126" idx="1"/>
          </p:cNvCxnSpPr>
          <p:nvPr/>
        </p:nvCxnSpPr>
        <p:spPr>
          <a:xfrm>
            <a:off x="222585" y="2042800"/>
            <a:ext cx="10500" cy="1449600"/>
          </a:xfrm>
          <a:prstGeom prst="curvedConnector3">
            <a:avLst>
              <a:gd fmla="val -9884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7" title="Nerdwallet_Horizontal_Logo.svg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0638" y="4251050"/>
            <a:ext cx="1201839" cy="1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title="Credit_Karma_logo.svg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30250" y="4504399"/>
            <a:ext cx="1342218" cy="1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 rot="10800000">
            <a:off x="2966050" y="3948800"/>
            <a:ext cx="338100" cy="10938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17"/>
          <p:cNvCxnSpPr/>
          <p:nvPr/>
        </p:nvCxnSpPr>
        <p:spPr>
          <a:xfrm flipH="1" rot="5400000">
            <a:off x="3265000" y="4153850"/>
            <a:ext cx="350400" cy="272100"/>
          </a:xfrm>
          <a:prstGeom prst="curvedConnector3">
            <a:avLst>
              <a:gd fmla="val 2502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17"/>
          <p:cNvSpPr txBox="1"/>
          <p:nvPr/>
        </p:nvSpPr>
        <p:spPr>
          <a:xfrm>
            <a:off x="240476" y="1468150"/>
            <a:ext cx="153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Inter"/>
                <a:ea typeface="Inter"/>
                <a:cs typeface="Inter"/>
                <a:sym typeface="Inter"/>
              </a:rPr>
              <a:t>Illustration</a:t>
            </a:r>
            <a:endParaRPr b="1"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6290700" y="1672475"/>
            <a:ext cx="24828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ublic Sans"/>
              <a:buChar char="●"/>
            </a:pPr>
            <a:r>
              <a:rPr b="1" lang="en-GB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Building Topical Authority</a:t>
            </a:r>
            <a:r>
              <a:rPr lang="en-GB" sz="1200">
                <a:latin typeface="Inter"/>
                <a:ea typeface="Inter"/>
                <a:cs typeface="Inter"/>
                <a:sym typeface="Inter"/>
              </a:rPr>
              <a:t> still tops the content priority, with the relevant technical optimisation for each URL</a:t>
            </a:r>
            <a:br>
              <a:rPr lang="en-GB" sz="1200">
                <a:latin typeface="Inter"/>
                <a:ea typeface="Inter"/>
                <a:cs typeface="Inter"/>
                <a:sym typeface="Inter"/>
              </a:rPr>
            </a:b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ublic Sans"/>
              <a:buChar char="●"/>
            </a:pPr>
            <a:r>
              <a:rPr lang="en-GB" sz="1200">
                <a:latin typeface="Inter"/>
                <a:ea typeface="Inter"/>
                <a:cs typeface="Inter"/>
                <a:sym typeface="Inter"/>
              </a:rPr>
              <a:t>The key reason of smaller publishers/brands doing well on LLM queries is their </a:t>
            </a:r>
            <a:r>
              <a:rPr b="1" lang="en-GB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trust-signalling coverage</a:t>
            </a:r>
            <a:endParaRPr b="1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7487925" y="1918375"/>
            <a:ext cx="1510500" cy="176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AA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Inter"/>
                <a:ea typeface="Inter"/>
                <a:cs typeface="Inter"/>
                <a:sym typeface="Inter"/>
              </a:rPr>
              <a:t>5. 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Inter"/>
                <a:ea typeface="Inter"/>
                <a:cs typeface="Inter"/>
                <a:sym typeface="Inter"/>
              </a:rPr>
              <a:t>Community Visibility</a:t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-89999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Inter"/>
                <a:ea typeface="Inter"/>
                <a:cs typeface="Inter"/>
                <a:sym typeface="Inter"/>
              </a:rPr>
              <a:t>Access your presence of reddit, Quora forums</a:t>
            </a:r>
            <a:endParaRPr i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3924675" y="1895275"/>
            <a:ext cx="1510500" cy="176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AA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Inter"/>
                <a:ea typeface="Inter"/>
                <a:cs typeface="Inter"/>
                <a:sym typeface="Inter"/>
              </a:rPr>
              <a:t>3.</a:t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Inter"/>
                <a:ea typeface="Inter"/>
                <a:cs typeface="Inter"/>
                <a:sym typeface="Inter"/>
              </a:rPr>
              <a:t>Citation &amp; Brand Mention Audit</a:t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Inter"/>
                <a:ea typeface="Inter"/>
                <a:cs typeface="Inter"/>
                <a:sym typeface="Inter"/>
              </a:rPr>
              <a:t>Review of cited URLs &amp; brand mentions</a:t>
            </a:r>
            <a:endParaRPr i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361425" y="1895275"/>
            <a:ext cx="1510500" cy="176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4AA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Inter"/>
                <a:ea typeface="Inter"/>
                <a:cs typeface="Inter"/>
                <a:sym typeface="Inter"/>
              </a:rPr>
              <a:t>1. </a:t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Inter"/>
                <a:ea typeface="Inter"/>
                <a:cs typeface="Inter"/>
                <a:sym typeface="Inter"/>
              </a:rPr>
              <a:t>Curate Prompt List</a:t>
            </a:r>
            <a:endParaRPr b="1" sz="13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Inter"/>
                <a:ea typeface="Inter"/>
                <a:cs typeface="Inter"/>
                <a:sym typeface="Inter"/>
              </a:rPr>
              <a:t>Curate a list of relevant prompts</a:t>
            </a:r>
            <a:endParaRPr i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478750" y="271900"/>
            <a:ext cx="801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Strategy to Dominate Generative Search (GEO)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-7794300" y="1328088"/>
            <a:ext cx="905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100" u="sng">
                <a:latin typeface="Roboto"/>
                <a:ea typeface="Roboto"/>
                <a:cs typeface="Roboto"/>
                <a:sym typeface="Roboto"/>
              </a:rPr>
              <a:t>Goals</a:t>
            </a:r>
            <a:endParaRPr b="1" i="0" sz="1100" u="sng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" name="Google Shape;143;p18"/>
          <p:cNvCxnSpPr/>
          <p:nvPr/>
        </p:nvCxnSpPr>
        <p:spPr>
          <a:xfrm>
            <a:off x="533475" y="795100"/>
            <a:ext cx="5499300" cy="0"/>
          </a:xfrm>
          <a:prstGeom prst="straightConnector1">
            <a:avLst/>
          </a:prstGeom>
          <a:noFill/>
          <a:ln cap="flat" cmpd="sng" w="19050">
            <a:solidFill>
              <a:srgbClr val="4AA7C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8"/>
          <p:cNvSpPr/>
          <p:nvPr/>
        </p:nvSpPr>
        <p:spPr>
          <a:xfrm>
            <a:off x="2143050" y="1895275"/>
            <a:ext cx="1510500" cy="176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160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Multi LLM Analysis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Analyze the responses from different LLMs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210" y="1178388"/>
            <a:ext cx="532926" cy="5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/>
          <p:nvPr/>
        </p:nvSpPr>
        <p:spPr>
          <a:xfrm>
            <a:off x="5706300" y="1918375"/>
            <a:ext cx="1510500" cy="176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160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Page Creation &amp; Optimization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Identifying pages to be created &amp; optimized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7" name="Google Shape;147;p18"/>
          <p:cNvCxnSpPr>
            <a:stCxn id="140" idx="3"/>
            <a:endCxn id="144" idx="1"/>
          </p:cNvCxnSpPr>
          <p:nvPr/>
        </p:nvCxnSpPr>
        <p:spPr>
          <a:xfrm>
            <a:off x="1871925" y="2775775"/>
            <a:ext cx="27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8" name="Google Shape;148;p18"/>
          <p:cNvCxnSpPr>
            <a:stCxn id="144" idx="3"/>
            <a:endCxn id="139" idx="1"/>
          </p:cNvCxnSpPr>
          <p:nvPr/>
        </p:nvCxnSpPr>
        <p:spPr>
          <a:xfrm>
            <a:off x="3653550" y="2775775"/>
            <a:ext cx="27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" name="Google Shape;149;p18"/>
          <p:cNvCxnSpPr/>
          <p:nvPr/>
        </p:nvCxnSpPr>
        <p:spPr>
          <a:xfrm>
            <a:off x="5435138" y="2775775"/>
            <a:ext cx="27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" name="Google Shape;150;p18"/>
          <p:cNvCxnSpPr/>
          <p:nvPr/>
        </p:nvCxnSpPr>
        <p:spPr>
          <a:xfrm>
            <a:off x="7216788" y="2775775"/>
            <a:ext cx="271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51" name="Google Shape;15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5744" y="1217400"/>
            <a:ext cx="685093" cy="5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1850" y="1219900"/>
            <a:ext cx="532925" cy="53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2475" y="1158900"/>
            <a:ext cx="538142" cy="57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67000" y="1220029"/>
            <a:ext cx="538150" cy="53265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45113" y="3845050"/>
            <a:ext cx="8186400" cy="632700"/>
          </a:xfrm>
          <a:prstGeom prst="rect">
            <a:avLst/>
          </a:prstGeom>
          <a:noFill/>
          <a:ln cap="flat" cmpd="sng" w="38100">
            <a:solidFill>
              <a:srgbClr val="160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1"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 &amp; Iterate</a:t>
            </a:r>
            <a:r>
              <a:rPr lang="en-GB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– Create new pages, update existing pages, implement schemas, and community replies and re-run the prompt set monthly to gauge lift and uncover new topical gaps.</a:t>
            </a:r>
            <a:endParaRPr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3994494" y="8253261"/>
            <a:ext cx="238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D3A5A"/>
                </a:solidFill>
                <a:latin typeface="Roboto"/>
                <a:ea typeface="Roboto"/>
                <a:cs typeface="Roboto"/>
                <a:sym typeface="Roboto"/>
              </a:rPr>
              <a:t>MAY 2024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216425" y="187650"/>
            <a:ext cx="774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Here, is the customised content strategy table for you!</a:t>
            </a:r>
            <a:endParaRPr b="1" sz="1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-35850" y="4463979"/>
            <a:ext cx="9215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latin typeface="Inter"/>
                <a:ea typeface="Inter"/>
                <a:cs typeface="Inter"/>
                <a:sym typeface="Inter"/>
              </a:rPr>
              <a:t>Note: The weightage percentage is a relative effort guide.</a:t>
            </a:r>
            <a:endParaRPr i="1" sz="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latin typeface="Inter"/>
                <a:ea typeface="Inter"/>
                <a:cs typeface="Inter"/>
                <a:sym typeface="Inter"/>
              </a:rPr>
              <a:t>If you're putting X effort on a source with 2% weight, then a source with 8% weight deserves 4X effort. Prioritize accordingly to match impact with visibility potential.</a:t>
            </a:r>
            <a:endParaRPr i="1" sz="900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63" name="Google Shape;163;p19"/>
          <p:cNvGraphicFramePr/>
          <p:nvPr/>
        </p:nvGraphicFramePr>
        <p:xfrm>
          <a:off x="379475" y="71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{48A6959E-4030-4773-B7F1-78B7FB528B93}</a:tableStyleId>
              </a:tblPr>
              <a:tblGrid>
                <a:gridCol w="1084075"/>
                <a:gridCol w="603250"/>
                <a:gridCol w="3365900"/>
                <a:gridCol w="778100"/>
                <a:gridCol w="25528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Source Type</a:t>
                      </a:r>
                      <a:endParaRPr b="1" sz="8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Estimated Weight</a:t>
                      </a:r>
                      <a:endParaRPr b="1" sz="8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Notes</a:t>
                      </a:r>
                      <a:endParaRPr b="1" sz="8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% Weightage (Approx.)</a:t>
                      </a:r>
                      <a:endParaRPr b="1" sz="8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Relevant Examples</a:t>
                      </a:r>
                      <a:endParaRPr b="1" sz="8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Product &amp; Platform Pages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Very High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Core retrieval: prompts like “ServiceNow ITSM,” “ServiceNow workflow automation,” “Now Platform AI.”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25%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ITSM, ITOM, CSM, HRSD, Creator Workflows, Now Assist (GenAI)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Industry Solutions Pages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For prompts like “ServiceNow for banking,” “workflow automation for healthcare,” “government digital services.”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14%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Financial services, healthcare, manufacturing, government, telecom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AI &amp; Technology Innovation Pages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For prompts like “ServiceNow AI,” “Now Assist generative AI,” “ServiceNow platform intelligence.”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13%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GenAI copilots, predictive intelligence, ServiceNow Vancouver/Washington releases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Stories / Case Studies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Retrieval for “who uses ServiceNow,” “ServiceNow ROI,” “ServiceNow success stories.”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12%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Case studies with Citi, DHL, Novartis, government agencies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Pricing / Demo Pages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Medium-High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For prompts like “ServiceNow demo,” “ServiceNow pricing,” “ServiceNow enterprise license.”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10%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Request a demo, Now Assist ROI tools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Documentation &amp; Knowledge Base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Retrieval for prompts like “ServiceNow API,” “ServiceNow developer docs,” “ServiceNow workflow integration.”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8%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Developer portal, integration hub docs, API references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Events &amp; Webinars (Knowledge)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For prompts like “ServiceNow Knowledge conference,” “ServiceNow webinars,” “future of IT workflows.”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6%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Knowledge conference sessions, leadership keynotes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Press &amp; Newsroom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Medium-Low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For prompts like “ServiceNow earnings,” “ServiceNow acquisitions,” “ServiceNow expansion.”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6%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Acquisitions (Element AI, Era Software, Hitch Works), quarterly earnings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Support / Help Center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Low-Medium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For prompts like “ServiceNow login,” “ServiceNow ticket help,” “support portal.”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4%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Support portal, instance upgrades, troubleshooting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Careers &amp; Corporate Pages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For prompts like “jobs at ServiceNow,” “ServiceNow culture,” “ServiceNow DEI.”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2%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nter"/>
                          <a:ea typeface="Inter"/>
                          <a:cs typeface="Inter"/>
                          <a:sym typeface="Inter"/>
                        </a:rPr>
                        <a:t>Careers site, employee stories, ESG reports</a:t>
                      </a:r>
                      <a:endParaRPr sz="8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13994494" y="8253261"/>
            <a:ext cx="238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D3A5A"/>
                </a:solidFill>
                <a:latin typeface="Roboto"/>
                <a:ea typeface="Roboto"/>
                <a:cs typeface="Roboto"/>
                <a:sym typeface="Roboto"/>
              </a:rPr>
              <a:t>MAY 2024</a:t>
            </a:r>
            <a:endParaRPr b="1"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52275" y="734875"/>
            <a:ext cx="84186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Do you think this was helpful and want to dive deeper?</a:t>
            </a:r>
            <a:endParaRPr b="1" sz="33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52275" y="2487475"/>
            <a:ext cx="78585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Reach us at +14157545133 </a:t>
            </a:r>
            <a:br>
              <a:rPr lang="en-GB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GB" sz="2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or write to us at kishan@peppercontent.io</a:t>
            </a:r>
            <a:endParaRPr sz="2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>
            <a:off x="193375" y="3841750"/>
            <a:ext cx="847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0"/>
          <p:cNvSpPr txBox="1"/>
          <p:nvPr/>
        </p:nvSpPr>
        <p:spPr>
          <a:xfrm>
            <a:off x="252275" y="3935275"/>
            <a:ext cx="8418600" cy="885000"/>
          </a:xfrm>
          <a:prstGeom prst="rect">
            <a:avLst/>
          </a:prstGeom>
          <a:solidFill>
            <a:srgbClr val="FFD7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600E5"/>
                </a:solidFill>
                <a:latin typeface="Inter"/>
                <a:ea typeface="Inter"/>
                <a:cs typeface="Inter"/>
                <a:sym typeface="Inter"/>
              </a:rPr>
              <a:t>We are hosting some free GEO workshops for corporates and if you think you’d be interested in the same, please write to us</a:t>
            </a:r>
            <a:endParaRPr sz="1600">
              <a:solidFill>
                <a:srgbClr val="1600E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3644250"/>
            <a:ext cx="9144000" cy="115200"/>
          </a:xfrm>
          <a:prstGeom prst="rect">
            <a:avLst/>
          </a:prstGeom>
          <a:solidFill>
            <a:srgbClr val="FFD7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